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 showSpecialPlsOnTitleSld="0">
  <p:sldMasterIdLst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y="6858000" cx="9144000"/>
  <p:notesSz cx="9942500" cy="6761150"/>
  <p:embeddedFontLst>
    <p:embeddedFont>
      <p:font typeface="Tahoma"/>
      <p:regular r:id="rId62"/>
      <p:bold r:id="rId63"/>
    </p:embeddedFont>
    <p:embeddedFont>
      <p:font typeface="Helvetica Neue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16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  <p:ext uri="{2D200454-40CA-4A62-9FC3-DE9A4176ACB9}">
      <p15:notesGuideLst>
        <p15:guide id="1" orient="horz" pos="2130">
          <p15:clr>
            <a:srgbClr val="A4A3A4"/>
          </p15:clr>
        </p15:guide>
        <p15:guide id="2" pos="31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FEC7CC-4EF8-494D-B4E4-412BEA4F38F7}">
  <a:tblStyle styleId="{97FEC7CC-4EF8-494D-B4E4-412BEA4F38F7}" styleName="Table_0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fill>
          <a:solidFill>
            <a:schemeClr val="accent4"/>
          </a:solidFill>
        </a:fill>
      </a:tcStyle>
    </a:lastCol>
    <a:fir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fill>
          <a:solidFill>
            <a:schemeClr val="accent4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4"/>
          </a:solidFill>
        </a:fill>
      </a:tcStyle>
    </a:firstRow>
    <a:neCell>
      <a:tcTxStyle/>
    </a:neCell>
    <a:nwCell>
      <a:tcTxStyle/>
    </a:nwCell>
  </a:tblStyle>
  <a:tblStyle styleId="{7F1421BD-7C9A-44F2-A689-434AD10B00E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D0E38DD-BDE3-4EC7-8F2C-0AC9C3997759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16" orient="horz"/>
        <p:guide pos="521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30" orient="horz"/>
        <p:guide pos="3133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Tahoma-regular.fntdata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HelveticaNeue-regular.fntdata"/><Relationship Id="rId63" Type="http://schemas.openxmlformats.org/officeDocument/2006/relationships/font" Target="fonts/Tahoma-bold.fntdata"/><Relationship Id="rId22" Type="http://schemas.openxmlformats.org/officeDocument/2006/relationships/slide" Target="slides/slide16.xml"/><Relationship Id="rId66" Type="http://schemas.openxmlformats.org/officeDocument/2006/relationships/font" Target="fonts/HelveticaNeue-italic.fntdata"/><Relationship Id="rId21" Type="http://schemas.openxmlformats.org/officeDocument/2006/relationships/slide" Target="slides/slide15.xml"/><Relationship Id="rId65" Type="http://schemas.openxmlformats.org/officeDocument/2006/relationships/font" Target="fonts/HelveticaNeue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schemas.openxmlformats.org/officeDocument/2006/relationships/font" Target="fonts/HelveticaNeue-bold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332288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35625" y="0"/>
            <a:ext cx="4333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E36C0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438900"/>
            <a:ext cx="4332288" cy="333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35625" y="6438900"/>
            <a:ext cx="43338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c554e8d534_0_0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" name="Google Shape;37;g3c554e8d534_0_0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c554e8d534_0_0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de0ca86d6_0_6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dde0ca86d6_0_6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de0ca86d6_0_29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dde0ca86d6_0_29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554e8d534_0_21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c554e8d534_0_21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2103ae168_0_28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82103ae168_0_28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f0b152d03_0_0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df0b152d03_0_0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2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cf4ce46a3_0_0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8cf4ce46a3_0_0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3cd7d2948_0_0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83cd7d2948_0_0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2103ae168_0_19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82103ae168_0_19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e173d635b_0_0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e173d635b_0_0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ae173d635b_0_0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e173d635b_0_9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e173d635b_0_9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e173d635b_0_9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e173d635b_1_3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e173d635b_1_3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e173d635b_1_3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cfc9e71a3_0_0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acfc9e71a3_0_0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cfc9e71a3_0_34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acfc9e71a3_0_34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e199705a7_0_0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e199705a7_0_0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ae199705a7_0_0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e199705a7_0_8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e199705a7_0_8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ae199705a7_0_8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de0ca86d6_0_107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de0ca86d6_0_107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de0ca86d6_0_107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e173d635b_1_12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e173d635b_1_12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ae173d635b_1_12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e173d635b_1_18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e173d635b_1_18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ae173d635b_1_18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e173d635b_1_24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e173d635b_1_24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ae173d635b_1_24:notes"/>
          <p:cNvSpPr txBox="1"/>
          <p:nvPr>
            <p:ph idx="12" type="sldNum"/>
          </p:nvPr>
        </p:nvSpPr>
        <p:spPr>
          <a:xfrm>
            <a:off x="5635625" y="6438900"/>
            <a:ext cx="4333800" cy="333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cfc9e71a3_0_13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acfc9e71a3_0_13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554e8d534_0_89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c554e8d534_0_89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554e8d534_0_100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c554e8d534_0_100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554e8d534_0_110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c554e8d534_0_110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554e8d534_0_119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c554e8d534_0_119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e199705a7_0_23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ae199705a7_0_23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e199705a7_0_39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ae199705a7_0_39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de0ca86d6_0_53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dde0ca86d6_0_53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de0ca86d6_0_66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dde0ca86d6_0_66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de0ca86d6_0_81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dde0ca86d6_0_81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de0ca86d6_0_91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dde0ca86d6_0_91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079066ac2_1_0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e079066ac2_1_0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8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e388f600f_0_6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ae388f600f_0_6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554e8d534_0_40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c554e8d534_0_40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c554e8d534_0_59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c554e8d534_0_59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1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1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9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9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2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2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3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e074d9839d_0_0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e074d9839d_0_0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e074d9839d_0_6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e074d9839d_0_6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7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844e1a6f22_1_11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844e1a6f22_1_11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de0ca86d6_0_117:notes"/>
          <p:cNvSpPr txBox="1"/>
          <p:nvPr>
            <p:ph idx="1" type="body"/>
          </p:nvPr>
        </p:nvSpPr>
        <p:spPr>
          <a:xfrm>
            <a:off x="1300163" y="3221038"/>
            <a:ext cx="7369200" cy="305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dde0ca86d6_0_117:notes"/>
          <p:cNvSpPr/>
          <p:nvPr>
            <p:ph idx="2" type="sldImg"/>
          </p:nvPr>
        </p:nvSpPr>
        <p:spPr>
          <a:xfrm>
            <a:off x="3230563" y="500063"/>
            <a:ext cx="3400500" cy="2551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8:notes"/>
          <p:cNvSpPr txBox="1"/>
          <p:nvPr>
            <p:ph idx="1" type="body"/>
          </p:nvPr>
        </p:nvSpPr>
        <p:spPr>
          <a:xfrm>
            <a:off x="1300163" y="3221038"/>
            <a:ext cx="7369175" cy="3051175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8:notes"/>
          <p:cNvSpPr/>
          <p:nvPr>
            <p:ph idx="2" type="sldImg"/>
          </p:nvPr>
        </p:nvSpPr>
        <p:spPr>
          <a:xfrm>
            <a:off x="3230563" y="500063"/>
            <a:ext cx="3400425" cy="25511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755373" y="685800"/>
            <a:ext cx="7901609" cy="1615966"/>
          </a:xfrm>
          <a:prstGeom prst="rect">
            <a:avLst/>
          </a:prstGeom>
          <a:solidFill>
            <a:srgbClr val="D2691E"/>
          </a:solidFill>
          <a:ln cap="flat" cmpd="sng" w="9525">
            <a:solidFill>
              <a:srgbClr val="D26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6197" y="782321"/>
            <a:ext cx="8953500" cy="5976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SzPts val="2250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SzPts val="1600"/>
              <a:buChar char="o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SzPts val="1200"/>
              <a:buChar char="4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  <p:cxnSp>
        <p:nvCxnSpPr>
          <p:cNvPr id="22" name="Google Shape;22;p3"/>
          <p:cNvCxnSpPr/>
          <p:nvPr/>
        </p:nvCxnSpPr>
        <p:spPr>
          <a:xfrm>
            <a:off x="579120" y="6658235"/>
            <a:ext cx="7934960" cy="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00549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0480" y="27846"/>
            <a:ext cx="8328751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6197" y="782321"/>
            <a:ext cx="8953500" cy="5831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0200" lvl="1" marL="9144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009900"/>
              </a:buClr>
              <a:buSzPts val="1200"/>
              <a:buFont typeface="Arimo"/>
              <a:buChar char="4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Helvetica Neue"/>
              <a:buChar char="–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rgbClr val="FF0066"/>
              </a:buClr>
              <a:buSzPts val="1200"/>
              <a:buFont typeface="Helvetica Neue"/>
              <a:buChar char="»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4259263" y="6126163"/>
            <a:ext cx="1928812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Monday, September 8, 2025</a:t>
            </a:r>
            <a:endParaRPr b="1" i="0" sz="1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JUIT Office Photos | Glassdoor"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49072" y="42901"/>
            <a:ext cx="815248" cy="67900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123673" y="6687228"/>
            <a:ext cx="8694256" cy="1953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002060"/>
                </a:solidFill>
                <a:latin typeface="Palatino"/>
                <a:ea typeface="Palatino"/>
                <a:cs typeface="Palatino"/>
                <a:sym typeface="Palatino"/>
              </a:rPr>
              <a:t>       </a:t>
            </a:r>
            <a:r>
              <a:rPr b="0" i="0" lang="en-US" sz="900" u="none" cap="none" strike="noStrike">
                <a:solidFill>
                  <a:srgbClr val="002060"/>
                </a:solidFill>
                <a:latin typeface="Palatino"/>
                <a:ea typeface="Palatino"/>
                <a:cs typeface="Palatino"/>
                <a:sym typeface="Palatino"/>
              </a:rPr>
              <a:t>Major Project – I (18B19CI791) Mid-Term Evaluation | Department of CSE &amp; IT | AY 2025-26. </a:t>
            </a:r>
            <a:endParaRPr/>
          </a:p>
        </p:txBody>
      </p:sp>
      <p:sp>
        <p:nvSpPr>
          <p:cNvPr id="15" name="Google Shape;15;p1"/>
          <p:cNvSpPr txBox="1"/>
          <p:nvPr/>
        </p:nvSpPr>
        <p:spPr>
          <a:xfrm>
            <a:off x="8798560" y="6613912"/>
            <a:ext cx="259243" cy="2460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50" u="none" cap="none" strike="noStrike">
              <a:solidFill>
                <a:srgbClr val="002060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8798560" y="6644391"/>
            <a:ext cx="36576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005493"/>
                </a:solidFill>
                <a:latin typeface="Palatino"/>
                <a:ea typeface="Palatino"/>
                <a:cs typeface="Palatino"/>
                <a:sym typeface="Palatino"/>
              </a:rPr>
              <a:t>‹#›</a:t>
            </a:fld>
            <a:r>
              <a:rPr b="0" i="0" lang="en-US" sz="900" u="none" cap="none" strike="noStrike">
                <a:solidFill>
                  <a:srgbClr val="005493"/>
                </a:solidFill>
                <a:latin typeface="Palatino"/>
                <a:ea typeface="Palatino"/>
                <a:cs typeface="Palatino"/>
                <a:sym typeface="Palatino"/>
              </a:rPr>
              <a:t>.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jpg"/><Relationship Id="rId4" Type="http://schemas.openxmlformats.org/officeDocument/2006/relationships/image" Target="../media/image21.jpg"/><Relationship Id="rId5" Type="http://schemas.openxmlformats.org/officeDocument/2006/relationships/image" Target="../media/image14.jpg"/><Relationship Id="rId6" Type="http://schemas.openxmlformats.org/officeDocument/2006/relationships/image" Target="../media/image2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jpg"/><Relationship Id="rId4" Type="http://schemas.openxmlformats.org/officeDocument/2006/relationships/image" Target="../media/image2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jpg"/><Relationship Id="rId4" Type="http://schemas.openxmlformats.org/officeDocument/2006/relationships/image" Target="../media/image32.jpg"/><Relationship Id="rId5" Type="http://schemas.openxmlformats.org/officeDocument/2006/relationships/image" Target="../media/image26.jpg"/><Relationship Id="rId6" Type="http://schemas.openxmlformats.org/officeDocument/2006/relationships/image" Target="../media/image3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jpg"/><Relationship Id="rId4" Type="http://schemas.openxmlformats.org/officeDocument/2006/relationships/image" Target="../media/image27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jpg"/><Relationship Id="rId4" Type="http://schemas.openxmlformats.org/officeDocument/2006/relationships/image" Target="../media/image31.jpg"/><Relationship Id="rId5" Type="http://schemas.openxmlformats.org/officeDocument/2006/relationships/image" Target="../media/image39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6.png"/><Relationship Id="rId4" Type="http://schemas.openxmlformats.org/officeDocument/2006/relationships/image" Target="../media/image5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4.png"/><Relationship Id="rId4" Type="http://schemas.openxmlformats.org/officeDocument/2006/relationships/image" Target="../media/image56.png"/><Relationship Id="rId5" Type="http://schemas.openxmlformats.org/officeDocument/2006/relationships/image" Target="../media/image5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3.png"/><Relationship Id="rId4" Type="http://schemas.openxmlformats.org/officeDocument/2006/relationships/image" Target="../media/image47.png"/><Relationship Id="rId5" Type="http://schemas.openxmlformats.org/officeDocument/2006/relationships/image" Target="../media/image4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5.png"/><Relationship Id="rId4" Type="http://schemas.openxmlformats.org/officeDocument/2006/relationships/image" Target="../media/image50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github.com/Mehak-1504/plant-disease-backend" TargetMode="External"/><Relationship Id="rId4" Type="http://schemas.openxmlformats.org/officeDocument/2006/relationships/hyperlink" Target="https://github.com/KS-116/plant-disease-detect-recommend-cure" TargetMode="External"/><Relationship Id="rId5" Type="http://schemas.openxmlformats.org/officeDocument/2006/relationships/hyperlink" Target="https://github.com/Himawari2125/Plant-Disease-model" TargetMode="External"/><Relationship Id="rId6" Type="http://schemas.openxmlformats.org/officeDocument/2006/relationships/hyperlink" Target="https://plant-disease-recommend-cure.bss.design/" TargetMode="External"/><Relationship Id="rId7" Type="http://schemas.openxmlformats.org/officeDocument/2006/relationships/hyperlink" Target="https://github.com/221030465-devansh/plantcare-website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ctrTitle"/>
          </p:nvPr>
        </p:nvSpPr>
        <p:spPr>
          <a:xfrm>
            <a:off x="0" y="3511375"/>
            <a:ext cx="9144000" cy="1069500"/>
          </a:xfrm>
          <a:prstGeom prst="rect">
            <a:avLst/>
          </a:prstGeom>
          <a:solidFill>
            <a:srgbClr val="0037A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Intelligent System for Plant Disease Detection and Remedy Recommendation</a:t>
            </a:r>
            <a:endParaRPr sz="2800"/>
          </a:p>
        </p:txBody>
      </p:sp>
      <p:sp>
        <p:nvSpPr>
          <p:cNvPr id="28" name="Google Shape;28;p4"/>
          <p:cNvSpPr/>
          <p:nvPr/>
        </p:nvSpPr>
        <p:spPr>
          <a:xfrm>
            <a:off x="1457425" y="2108100"/>
            <a:ext cx="6723000" cy="10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Major Project - I</a:t>
            </a:r>
            <a:r>
              <a:rPr b="1" lang="en-US" sz="24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I </a:t>
            </a:r>
            <a:r>
              <a:rPr b="1" i="0" lang="en-US" sz="2400" u="none" cap="none" strike="noStrik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(18B19CI791) | AY 2025-26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End</a:t>
            </a:r>
            <a:r>
              <a:rPr b="1" i="0" lang="en-US" sz="2000" u="none" cap="none" strike="noStrik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-Term Evaluation |</a:t>
            </a:r>
            <a:r>
              <a:rPr b="1" lang="en-US" sz="20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 May</a:t>
            </a:r>
            <a:r>
              <a:rPr b="1" lang="en-US" sz="20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-14</a:t>
            </a:r>
            <a:r>
              <a:rPr b="1" i="0" lang="en-US" sz="2000" u="none" cap="none" strike="noStrik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, 202</a:t>
            </a:r>
            <a:r>
              <a:rPr b="1" lang="en-US" sz="2000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6</a:t>
            </a:r>
            <a:r>
              <a:rPr b="1" i="0" lang="en-US" sz="2000" u="none" cap="none" strike="noStrik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.</a:t>
            </a:r>
            <a:endParaRPr/>
          </a:p>
        </p:txBody>
      </p:sp>
      <p:sp>
        <p:nvSpPr>
          <p:cNvPr id="29" name="Google Shape;29;p4"/>
          <p:cNvSpPr txBox="1"/>
          <p:nvPr/>
        </p:nvSpPr>
        <p:spPr>
          <a:xfrm>
            <a:off x="517798" y="4498606"/>
            <a:ext cx="36207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No</a:t>
            </a: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85 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Member (s)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Kushal Sharma</a:t>
            </a:r>
            <a:r>
              <a:rPr lang="en-US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(221030116) </a:t>
            </a:r>
            <a:endParaRPr/>
          </a:p>
          <a:p>
            <a:pPr indent="-285750" lvl="0" marL="285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Mehak Singhal</a:t>
            </a:r>
            <a:r>
              <a:rPr lang="en-US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(221030297)</a:t>
            </a:r>
            <a:endParaRPr/>
          </a:p>
          <a:p>
            <a:pPr indent="-285750" lvl="0" marL="285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Harsha Thakur</a:t>
            </a:r>
            <a:r>
              <a:rPr lang="en-US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(221030461)</a:t>
            </a:r>
            <a:endParaRPr/>
          </a:p>
          <a:p>
            <a:pPr indent="-285750" lvl="0" marL="285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Devansh Moudgil</a:t>
            </a:r>
            <a:r>
              <a:rPr lang="en-US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(221030465)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4871438" y="5041029"/>
            <a:ext cx="41184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Supervisor</a:t>
            </a:r>
            <a:endParaRPr/>
          </a:p>
          <a:p>
            <a:pPr indent="-342900" lvl="0" marL="34290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Ms. </a:t>
            </a:r>
            <a:r>
              <a:rPr lang="en-US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Vani Sharma</a:t>
            </a:r>
            <a:endParaRPr/>
          </a:p>
          <a:p>
            <a:pPr indent="0" lvl="0" marL="357188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Assistant Professor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57188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Department of Computer Science and Information Technology, Jaypee University of Information Technology</a:t>
            </a:r>
            <a:endParaRPr sz="1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2492" y="-165253"/>
            <a:ext cx="1178805" cy="895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4901" y="160424"/>
            <a:ext cx="1015707" cy="3454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IT Office Photos | Glassdoor" id="33" name="Google Shape;3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17" y="93342"/>
            <a:ext cx="815248" cy="67900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-2" y="601361"/>
            <a:ext cx="9144000" cy="14112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strike="noStrike">
                <a:solidFill>
                  <a:srgbClr val="000099"/>
                </a:solidFill>
                <a:latin typeface="Palatino"/>
                <a:ea typeface="Palatino"/>
                <a:cs typeface="Palatino"/>
                <a:sym typeface="Palatino"/>
              </a:rPr>
              <a:t>Jaypee University of Information Technology</a:t>
            </a:r>
            <a:endParaRPr/>
          </a:p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Palatino"/>
              <a:buNone/>
            </a:pPr>
            <a:r>
              <a:rPr b="1" i="0" lang="en-US" sz="2600" u="none" strike="noStrike">
                <a:solidFill>
                  <a:srgbClr val="000099"/>
                </a:solidFill>
                <a:latin typeface="Palatino"/>
                <a:ea typeface="Palatino"/>
                <a:cs typeface="Palatino"/>
                <a:sym typeface="Palatino"/>
              </a:rPr>
              <a:t>Department of Computer Science and Engineering and Information Technology</a:t>
            </a:r>
            <a:endParaRPr b="1" i="0" sz="2600" u="none" strike="noStrike">
              <a:solidFill>
                <a:srgbClr val="002060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41" name="Google Shape;41;p5"/>
          <p:cNvSpPr txBox="1"/>
          <p:nvPr/>
        </p:nvSpPr>
        <p:spPr>
          <a:xfrm>
            <a:off x="130125" y="804225"/>
            <a:ext cx="4124400" cy="50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8" lvl="0" marL="357188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  <a:endParaRPr/>
          </a:p>
          <a:p>
            <a:pPr indent="-261938" lvl="0" marL="357188" marR="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endParaRPr/>
          </a:p>
          <a:p>
            <a:pPr indent="-261938" lvl="0" marL="357188" marR="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Objectives</a:t>
            </a:r>
            <a:endParaRPr/>
          </a:p>
          <a:p>
            <a:pPr indent="-261938" lvl="0" marL="357188" marR="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Literature Review</a:t>
            </a:r>
            <a:endParaRPr/>
          </a:p>
          <a:p>
            <a:pPr indent="-261938" lvl="0" marL="357188" marR="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 Done (after MP-I)</a:t>
            </a:r>
            <a:endParaRPr/>
          </a:p>
          <a:p>
            <a:pPr indent="-261938" lvl="0" marL="357188" marR="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Dataset</a:t>
            </a:r>
            <a:endParaRPr/>
          </a:p>
          <a:p>
            <a:pPr indent="-261938" lvl="0" marL="357188" marR="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Design</a:t>
            </a:r>
            <a:endParaRPr/>
          </a:p>
          <a:p>
            <a:pPr indent="-261938" lvl="0" marL="357188" marR="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Tools, Technologies and Languages</a:t>
            </a:r>
            <a:endParaRPr/>
          </a:p>
          <a:p>
            <a:pPr indent="-261938" lvl="0" marL="357188" marR="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Implementation</a:t>
            </a:r>
            <a:endParaRPr/>
          </a:p>
          <a:p>
            <a:pPr indent="-261938" lvl="0" marL="357188" marR="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Experimental Results and Evaluation</a:t>
            </a:r>
            <a:endParaRPr/>
          </a:p>
          <a:p>
            <a:pPr indent="-261938" lvl="0" marL="357188" marR="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Publications</a:t>
            </a:r>
            <a:endParaRPr/>
          </a:p>
          <a:p>
            <a:pPr indent="-261938" lvl="0" marL="357188" marR="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Work</a:t>
            </a:r>
            <a:endParaRPr/>
          </a:p>
          <a:p>
            <a:pPr indent="-261938" lvl="0" marL="357188" marR="0" rtl="0" algn="just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Plan</a:t>
            </a:r>
            <a:endParaRPr/>
          </a:p>
          <a:p>
            <a:pPr indent="-134938" lvl="0" marL="357188" marR="0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34938" lvl="0" marL="357188" marR="0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5233012" y="804231"/>
            <a:ext cx="38340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8" lvl="0" marL="357188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Learnings</a:t>
            </a:r>
            <a:endParaRPr/>
          </a:p>
          <a:p>
            <a:pPr indent="-261938" lvl="0" marL="357188" marR="0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 Contribution and Attendance</a:t>
            </a:r>
            <a:endParaRPr/>
          </a:p>
          <a:p>
            <a:pPr indent="-261938" lvl="0" marL="357188" marR="0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Supervisor Interactions</a:t>
            </a:r>
            <a:endParaRPr/>
          </a:p>
          <a:p>
            <a:pPr indent="-261938" lvl="0" marL="357188" marR="0" rtl="0" algn="just">
              <a:lnSpc>
                <a:spcPct val="14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References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48" name="Google Shape;48;p6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●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Agriculture suffers huge losses every year due to late or inaccurate detection of plant diseases.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Current systems/backlogs: Manual inspection is time-consuming, inconsistent, and requires expert knowledge.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●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Farmers often lack access to reliable disease identification tools in rural areas.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●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Conventional image processing methods have limited accuracy and scalability.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Helvetica Neue"/>
              <a:buChar char="●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Learning (U-Net,ResNet50, ViT, VGG16, VGG19, AlexNet, DenseNet, EfficientNet-B4) offers automated, reliable, and high-accuracy detection from leaf images.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project provides a web-based solution where users upload a leaf image and instantly receive disease predictions.</a:t>
            </a:r>
            <a:endParaRPr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54" name="Google Shape;54;p7"/>
          <p:cNvSpPr txBox="1"/>
          <p:nvPr/>
        </p:nvSpPr>
        <p:spPr>
          <a:xfrm>
            <a:off x="77118" y="804232"/>
            <a:ext cx="8956714" cy="576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 now, most disease detection is done manually, which is slow, tiring, and often depends on expert knowledge that isn’t always available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farmers misjudge the symptoms or identify the disease too late, which reduces the chances of saving the crop.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Existing computer-based systems are either too simple or not accurate enough when dealing with different crops and many disease types.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60" name="Google Shape;60;p8"/>
          <p:cNvSpPr txBox="1"/>
          <p:nvPr/>
        </p:nvSpPr>
        <p:spPr>
          <a:xfrm>
            <a:off x="77118" y="804232"/>
            <a:ext cx="8956714" cy="576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build a system that can detect plant diseases automatically using leaf images.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deep learning models (U-Net, ResNet50, Vision Transformer, VGG16, VGG19, AlexNet and DenseNet, EfficientNet-B4) for accurate classification of healthy and diseased plants.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Ultimately, reduce crop losses by helping in early identification and treatment of plant diseases.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</a:t>
            </a:r>
            <a:endParaRPr b="0"/>
          </a:p>
        </p:txBody>
      </p:sp>
      <p:sp>
        <p:nvSpPr>
          <p:cNvPr id="66" name="Google Shape;66;p9"/>
          <p:cNvSpPr txBox="1"/>
          <p:nvPr/>
        </p:nvSpPr>
        <p:spPr>
          <a:xfrm>
            <a:off x="93593" y="72468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67" name="Google Shape;67;p9"/>
          <p:cNvGraphicFramePr/>
          <p:nvPr/>
        </p:nvGraphicFramePr>
        <p:xfrm>
          <a:off x="110156" y="7246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{97FEC7CC-4EF8-494D-B4E4-412BEA4F38F7}</a:tableStyleId>
              </a:tblPr>
              <a:tblGrid>
                <a:gridCol w="542250"/>
                <a:gridCol w="1760275"/>
                <a:gridCol w="1465250"/>
                <a:gridCol w="1421175"/>
                <a:gridCol w="1828800"/>
                <a:gridCol w="1905925"/>
              </a:tblGrid>
              <a:tr h="760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S. No.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Author &amp;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Paper Title </a:t>
                      </a:r>
                      <a:b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[Citation]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Journal/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Conference</a:t>
                      </a:r>
                      <a:b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(Year)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Tools/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Techniques/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Dataset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Key Findings/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Results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Limitations/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Gaps Identified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Anh H. Vo et al., "An Automatic Recommendation System for Plant Disease Treatment"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ResearchGate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(2022)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CrowdAI dataset.</a:t>
                      </a: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EfficientNet-B2, ResNet50, MobileNetV2; CNN,Cosine Similarity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Two-module system: detection + recommendation; accurate disease diagnosis </a:t>
                      </a:r>
                      <a:endParaRPr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Needs real-field validation; remedy suggestions limited to dataset mapping 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D59B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Emmanuel D. Erute, Folasade O. Isinkaye, "A Smartphone-based Plant Disease Detection and Treatment Recommendation System 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Research Gate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</a:t>
                      </a: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2022)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CNN + ANN + KNN, Flutter/Android Studio, Firebase . </a:t>
                      </a:r>
                      <a:endParaRPr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Mobile-friendly, practical for farmers; real-time diagnosis and recommendation</a:t>
                      </a:r>
                      <a:endParaRPr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Limited crops tested;dependent on smartphone camera quality.</a:t>
                      </a:r>
                      <a:endParaRPr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0DD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Anita Rani Mehta et al., "AI-powered Innovations in Agriculture: A Systematic Review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Indian Journal of Agricultural Research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</a:t>
                      </a: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2025)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Needs real-field validation; remedy suggestions limited to dataset mapping</a:t>
                      </a:r>
                      <a:r>
                        <a:rPr lang="en-US"/>
                        <a:t>.</a:t>
                      </a:r>
                      <a:endParaRPr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Comprehensive analysis; identifies trends and future research areas</a:t>
                      </a:r>
                      <a:endParaRPr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No experimental validation; survey-based </a:t>
                      </a:r>
                      <a:endParaRPr i="0"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D59B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4.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Sunita Rani, Subaini Kumar</a:t>
                      </a: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,”</a:t>
                      </a: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Comparative Analysis of ML Algorithms for Plant Leaf Disease Detection”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IJRASET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(2023)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Python (scikit-learn), Random Forest, Naive Bayes, XGBoost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ABOU achieved 94.1% accuracy; Naive Bayes performed weakly; preprocessing and augmentation improved results 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Limited dataset diversity; not tested on real-field conditions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5D59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 (cont…)</a:t>
            </a:r>
            <a:endParaRPr b="0"/>
          </a:p>
        </p:txBody>
      </p:sp>
      <p:sp>
        <p:nvSpPr>
          <p:cNvPr id="73" name="Google Shape;73;p10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74" name="Google Shape;74;p10"/>
          <p:cNvGraphicFramePr/>
          <p:nvPr/>
        </p:nvGraphicFramePr>
        <p:xfrm>
          <a:off x="151981" y="724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{97FEC7CC-4EF8-494D-B4E4-412BEA4F38F7}</a:tableStyleId>
              </a:tblPr>
              <a:tblGrid>
                <a:gridCol w="535175"/>
                <a:gridCol w="1737275"/>
                <a:gridCol w="1446100"/>
                <a:gridCol w="1402600"/>
                <a:gridCol w="1804900"/>
                <a:gridCol w="1881025"/>
              </a:tblGrid>
              <a:tr h="707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S. No.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Author &amp;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Paper Title </a:t>
                      </a:r>
                      <a:b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[Citation]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Journal/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Conference</a:t>
                      </a:r>
                      <a:b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(Year)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Tools/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Techniques/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Dataset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Key Findings/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Results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Limitations/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Gaps Identified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</a:tr>
              <a:tr h="1347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Shivani Singh, Anjali Sharma, Mohit Verma ,”Plant Leaf Disease Detection and Classification Using CNN Models: A Systematic Review</a:t>
                      </a:r>
                      <a:r>
                        <a:rPr i="1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”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Spinger AI Review (2015)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CNN Models , TensorFlow, PyTorch, Keras, OpenCV, PlantVillage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High accuracy (98–99%); suggested lightweight CNNs with IoT/drones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High computational requirements; dataset limitations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50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Neha Sharma, Vink Patel, Rahul Gupta, “Plant Leaf Disease Detection using ML, DL, and Few-Shot Learning (FSL)</a:t>
                      </a:r>
                      <a:r>
                        <a:rPr i="1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”</a:t>
                      </a:r>
                      <a:endParaRPr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ISJEM Journal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Python, TensorFlow, PyTorch, Hyperspectral/Thermal Cameras; CNNs, Vision Transformers, FSL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Effective for small datasets; scalable AI; molecular diagnostics integrated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Limited crop diversity; requires specialized imaging tools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1050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</a:t>
                      </a: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Murngavalli and Yopi ,“PLA-ViT: Vision Transformers for Precision Agriculture</a:t>
                      </a:r>
                      <a:r>
                        <a:rPr i="1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”</a:t>
                      </a:r>
                      <a:endParaRPr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2025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Vision Transformers (ViT), Transfer Learning, IoT Sensors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Captures global features via self-attention; high accuracy; real-time monitoring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Heavy model size; may require high-end hardware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251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</a:t>
                      </a:r>
                      <a:r>
                        <a:rPr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Baiju et al. ,”Slender-CNN for Corn, Rice &amp; Wheat Crops”</a:t>
                      </a:r>
                      <a:endParaRPr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2025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Slender-CNN, Multi-scale convolution, Image Processing libraries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Lightweight model; suitable for farm-level deployment; multi-scale lesion detection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Focused on three crops only; generalization to other crops unclear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 (cont…)</a:t>
            </a:r>
            <a:endParaRPr b="0"/>
          </a:p>
        </p:txBody>
      </p:sp>
      <p:sp>
        <p:nvSpPr>
          <p:cNvPr id="80" name="Google Shape;80;p11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81" name="Google Shape;81;p11"/>
          <p:cNvGraphicFramePr/>
          <p:nvPr/>
        </p:nvGraphicFramePr>
        <p:xfrm>
          <a:off x="110156" y="7245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{97FEC7CC-4EF8-494D-B4E4-412BEA4F38F7}</a:tableStyleId>
              </a:tblPr>
              <a:tblGrid>
                <a:gridCol w="542250"/>
                <a:gridCol w="1760275"/>
                <a:gridCol w="1465250"/>
                <a:gridCol w="1421175"/>
                <a:gridCol w="1828800"/>
                <a:gridCol w="1905925"/>
              </a:tblGrid>
              <a:tr h="760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S. No.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Author &amp;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Paper Title </a:t>
                      </a:r>
                      <a:b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[Citation]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Journal/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Conference</a:t>
                      </a:r>
                      <a:b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(Year)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Tools/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Techniques/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Dataset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Key Findings/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Results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Limitations/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Gaps Identified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</a:t>
                      </a: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Wubetu Barud Demilie,”</a:t>
                      </a:r>
                      <a:r>
                        <a:rPr i="1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Plant Disease Detection and Classification Techniques: A Comparative Study”</a:t>
                      </a:r>
                      <a:endParaRPr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IEEE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(2024)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SVM, KNN, Random Forest, Naive Bayes, Decision Trees, CNN, ANN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Comparative study of ML and DL techniques; highlighted real-time deployment challenges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Lack of experimental results; mostly survey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</a:t>
                      </a: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Nishant Sheler, Swoj Shinde, Shubham Sowent, Shregesh Dhumal, Kawser Kefokir,”</a:t>
                      </a:r>
                      <a:r>
                        <a:rPr i="1"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Plant Disease Detection Using CNN”</a:t>
                      </a:r>
                      <a:endParaRPr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ICACC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(2022)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VGG-19 CNN, Keras, TensorFlow Lite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Achieved 95.6% accuracy; deployable on Android devices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Limited dataset size; may underperform in real-field conditions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Anuja Bhargawa,Om Prakash,“Plant Leaf Disease Detection, Classification and Diagnosis – </a:t>
                      </a:r>
                      <a:r>
                        <a:rPr i="1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Computer Vision &amp; AI Survey</a:t>
                      </a:r>
                      <a:endParaRPr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IEEE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(2024)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CNN, SVM, KNN, Random Forest, ANN; MATLAB, Python, OpenCV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Hybrid ML/DL improves performance on limited datasets; transfer learning applied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Mostly survey; lacks real-time deployment analysis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Sammyv Militante, Bobby D. Gererdo, Nanette V. Dionisio,” </a:t>
                      </a:r>
                      <a:r>
                        <a:rPr i="1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Plant Leaf Detection and Disease Recognition Using Deep Learning”</a:t>
                      </a:r>
                      <a:endParaRPr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IEEE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(2019)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CNN, ReLU Activation, Pooling, Python Neural Network APIs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Achieved 96.5% accuracy across multiple crops; robust model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Dataset limited to PlantVillage; performance under real-field conditions not evaluated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 (cont…)</a:t>
            </a:r>
            <a:endParaRPr b="0"/>
          </a:p>
        </p:txBody>
      </p:sp>
      <p:sp>
        <p:nvSpPr>
          <p:cNvPr id="87" name="Google Shape;87;p12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88" name="Google Shape;88;p12"/>
          <p:cNvGraphicFramePr/>
          <p:nvPr/>
        </p:nvGraphicFramePr>
        <p:xfrm>
          <a:off x="110156" y="7245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{97FEC7CC-4EF8-494D-B4E4-412BEA4F38F7}</a:tableStyleId>
              </a:tblPr>
              <a:tblGrid>
                <a:gridCol w="542250"/>
                <a:gridCol w="1760275"/>
                <a:gridCol w="1465250"/>
                <a:gridCol w="1421175"/>
                <a:gridCol w="1828800"/>
                <a:gridCol w="1905925"/>
              </a:tblGrid>
              <a:tr h="760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S. No.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Author &amp;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Paper Title </a:t>
                      </a:r>
                      <a:b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[Citation]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Journal/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Conference</a:t>
                      </a:r>
                      <a:b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(Year)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Tools/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Techniques/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Dataset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Key Findings/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Results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Limitations/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Gaps Identified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13</a:t>
                      </a:r>
                      <a:r>
                        <a:rPr b="0" i="0"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S. P. Mohanty, D. P. Hughes, M. Salathé, "Using Deep Learning for Image-Based Plant Disease Detection, Frontiers in Plant Science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IEEE</a:t>
                      </a:r>
                      <a:endParaRPr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(2021)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CNN (Deep Learning), PlantVillage Dataset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Achieved high accuracy in plant disease classification using deep learning models.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Limited to controlled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dataset conditions; lacks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real-world variability and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remedy recommendation.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14</a:t>
                      </a: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A. T. Too et al., "A Comparative Study of Fine-Tuning Deep Learning Models for Plant Disease Identification," Computers and Electronics in Agriculture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IEEE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(2021)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ResNet, VGG (Fine-tuned CNNs), PlantVillage Dataset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Fine-tuned deep learning models outperform traditional machine learning methods.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Focuses only on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classification; no real-time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system or remedy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suggestion.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K. Picon et al., "Deep CNNs for Mobile Capture Device-Based Crop Disease Classification in the Wild," Computers and Electronics in Agriculture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IEEE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(2022)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CNN, Real-world field images dataset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Demonstrated effectiveness of CNNs in real-world agricultural conditions.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Performance affected by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lighting, occlusion, and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background noise.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r>
                        <a:rPr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r>
                        <a:rPr b="0" i="0" lang="en-US" sz="12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H. Touvron et al., "Training Data-Efficient Image Transformers &amp; Distillation Through Attention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IEEE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(2022)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Vision Transformer (ViT), ImageNet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Improved efficiency of transformer-based models with limited data.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Requires high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computational resources;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not optimized for mobile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deployment.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Literature Review (cont…)</a:t>
            </a:r>
            <a:endParaRPr b="0"/>
          </a:p>
        </p:txBody>
      </p:sp>
      <p:sp>
        <p:nvSpPr>
          <p:cNvPr id="94" name="Google Shape;94;p13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95" name="Google Shape;95;p13"/>
          <p:cNvGraphicFramePr/>
          <p:nvPr/>
        </p:nvGraphicFramePr>
        <p:xfrm>
          <a:off x="110156" y="7245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{97FEC7CC-4EF8-494D-B4E4-412BEA4F38F7}</a:tableStyleId>
              </a:tblPr>
              <a:tblGrid>
                <a:gridCol w="542250"/>
                <a:gridCol w="1760275"/>
                <a:gridCol w="1465250"/>
                <a:gridCol w="1421175"/>
                <a:gridCol w="1828800"/>
                <a:gridCol w="1905925"/>
              </a:tblGrid>
              <a:tr h="760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S. No.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Author &amp;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Paper Title </a:t>
                      </a:r>
                      <a:b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[Citation]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Journal/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Conference</a:t>
                      </a:r>
                      <a:b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(Year)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Tools/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Techniques/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Dataset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Key Findings/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Results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Limitations/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Gaps Identified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06029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17.</a:t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Z. Liu et al., “Swin Transformer: Hierarchical Vision Transformer Using Shifted Windows 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ICCV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(2022)</a:t>
                      </a:r>
                      <a:endParaRPr b="0"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Swin Transformer, ImageNet </a:t>
                      </a:r>
                      <a:endParaRPr b="0"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Enhanced feature extraction and better performance than traditional CNNs. 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Complex architecture; difficult to implement in lightweight systems. 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18.</a:t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R. Ferentinos, “Deep Learning Models for Plant Disease Detection and Diagnosis,” Agricultural Systems 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IEEE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(2023)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Deep CNN Models, Multi-crop datasets 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Achieved high accuracy across multiple plant species and diseases. 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Limited integration with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user-friendly applications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and real-time systems. 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19.</a:t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M. Brahimi, K. Boukhalfa, A. Moussaoui, “Deep Learning for Tomato Diseases: Classification and Symptoms Visualization,” Applied Artificial Intelligence 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IEEE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(2023)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CNN + Visualization Techniques, Tomato Dataset 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Provided disease classification along with symptom visualization. 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Focused on specific crop;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lacks generalization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across multiple plants. 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20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20.</a:t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Y. LeCun, Y. Bengio, G. Hinton, “Deep Learning,” Nature Reviews Methods Primers 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IEEE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(2024)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General Deep Learning Techniques 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Comprehensive overview of deep learning advancements and applications. 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General study; not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specifically focused on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952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plant disease detection. </a:t>
                      </a:r>
                      <a:endParaRPr i="0"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 Done (after MP-I)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8" lvl="0" marL="357188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Performed Internal 2-Way split on Training (80%), Validation (20%) on PlantVillage &amp; PlantDoc Dataset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33363" lvl="0" marL="357188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Performed External Validation on Plant Disease Detection Dataset.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33363" lvl="0" marL="357188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Performed Comparison of Various Models.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33363" lvl="0" marL="357188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Documented the Research Paper.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33363" lvl="0" marL="357188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Designed Front-End Website for the users.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Dataset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7125" y="687624"/>
            <a:ext cx="8956800" cy="6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PlantVillage Dataset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●"/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Contains healthy and diseased leaf images of various crops.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●"/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Covers 38 distinct classes (e.g., Tomato Late Blight, Apple Scab, Grape Black Rot, Healthy Leaves, etc.).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●"/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Images are color and grayscale, collected in controlled conditions.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Size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~54,000 images (RGB).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Train/Validation split: 80% train, 20% validation.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Properties</a:t>
            </a:r>
            <a:endParaRPr b="1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Original size varies, resized to 224×224 for ResNet50/ViT/EfficientNet-B4 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augmentation applied (rotation, zoom, flip, shift) for better generalization.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8" name="Google Shape;108;p15"/>
          <p:cNvGraphicFramePr/>
          <p:nvPr/>
        </p:nvGraphicFramePr>
        <p:xfrm>
          <a:off x="171450" y="46833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{7F1421BD-7C9A-44F2-A689-434AD10B00E2}</a:tableStyleId>
              </a:tblPr>
              <a:tblGrid>
                <a:gridCol w="2119375"/>
                <a:gridCol w="4584125"/>
                <a:gridCol w="2047975"/>
              </a:tblGrid>
              <a:tr h="34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Feature Category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Examples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Type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29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Crop Type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Tomato, Apple, Grape, Potato, Corn, etc.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Categorical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1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Disease Label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Early Blight, Late Blight, Leaf Spot, Rust, etc.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Categorical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1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Health Status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Healthy vs Diseased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Categorical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1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Image Features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Color, texture, shape patterns 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Numerical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9" name="Google Shape;109;p15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{2D0E38DD-BDE3-4EC7-8F2C-0AC9C3997759}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0" name="Google Shape;110;p15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{2D0E38DD-BDE3-4EC7-8F2C-0AC9C3997759}</a:tableStyleId>
              </a:tblPr>
              <a:tblGrid>
                <a:gridCol w="3333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1" name="Google Shape;111;p15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{2D0E38DD-BDE3-4EC7-8F2C-0AC9C3997759}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Dataset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77125" y="687624"/>
            <a:ext cx="8956800" cy="61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PlantDoc Dataset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●"/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Contains real-world diseased leaf images captured under natural, uncontrolled field conditions.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●"/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Covers 27 classes across 13 plant species (e.g., Tomato Early Blight, Apple Scab, Corn Common Rust, etc.).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●"/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Images taken via smartphone cameras — variable lighting, backgrounds, and leaf orientations.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Size</a:t>
            </a:r>
            <a:endParaRPr b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~2,569 images (RGB) across 27 disease and healthy classes.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Train/Validation split: 80% train, 20% validation.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Properties</a:t>
            </a:r>
            <a:endParaRPr b="1" sz="1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Original size varies; resized to 224×224 for model compatibility (EfficientNet-B4).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augmentation applied (rotation, zoom, flip, Gaussian noise) for better generalization.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18" name="Google Shape;118;p16"/>
          <p:cNvGraphicFramePr/>
          <p:nvPr/>
        </p:nvGraphicFramePr>
        <p:xfrm>
          <a:off x="171450" y="46833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{7F1421BD-7C9A-44F2-A689-434AD10B00E2}</a:tableStyleId>
              </a:tblPr>
              <a:tblGrid>
                <a:gridCol w="2119375"/>
                <a:gridCol w="4584125"/>
                <a:gridCol w="2047975"/>
              </a:tblGrid>
              <a:tr h="34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Feature Category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Examples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Type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29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Crop Type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Tomato, Apple, Potato, Corn, Bell Pepper etc.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Categorical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1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Disease Label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Early Blight, Late Blight, Leaf Spot, Rust, etc.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Categorical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1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Health Status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Healthy vs Diseased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Categorical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1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Image Features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Color, texture, shape, background noise 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Numerical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9" name="Google Shape;119;p16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{2D0E38DD-BDE3-4EC7-8F2C-0AC9C3997759}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0" name="Google Shape;120;p16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{2D0E38DD-BDE3-4EC7-8F2C-0AC9C3997759}</a:tableStyleId>
              </a:tblPr>
              <a:tblGrid>
                <a:gridCol w="3333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1" name="Google Shape;121;p16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{2D0E38DD-BDE3-4EC7-8F2C-0AC9C3997759}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Project Design </a:t>
            </a:r>
            <a:r>
              <a:rPr lang="en-US"/>
              <a:t>FlowChart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8" name="Google Shape;128;p17" title="Blank 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61769"/>
            <a:ext cx="9144003" cy="495151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2256000" y="6313275"/>
            <a:ext cx="46320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1 - High-Level System Architecture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Project Design </a:t>
            </a:r>
            <a:r>
              <a:rPr b="0" lang="en-US" sz="2400"/>
              <a:t>(cont…)</a:t>
            </a:r>
            <a:endParaRPr b="0"/>
          </a:p>
        </p:txBody>
      </p:sp>
      <p:sp>
        <p:nvSpPr>
          <p:cNvPr id="135" name="Google Shape;135;p18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2256000" y="6313275"/>
            <a:ext cx="46320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2 - Backend Server Diagram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800" y="804225"/>
            <a:ext cx="6501450" cy="550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Project Design </a:t>
            </a:r>
            <a:r>
              <a:rPr b="0" lang="en-US" sz="2400"/>
              <a:t>(cont…)</a:t>
            </a:r>
            <a:endParaRPr b="0"/>
          </a:p>
        </p:txBody>
      </p:sp>
      <p:sp>
        <p:nvSpPr>
          <p:cNvPr id="143" name="Google Shape;143;p19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2256000" y="6313275"/>
            <a:ext cx="46320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Fig. 3 – Client Application Diagram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6183"/>
          <a:stretch/>
        </p:blipFill>
        <p:spPr>
          <a:xfrm>
            <a:off x="2215100" y="1015125"/>
            <a:ext cx="4713775" cy="516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Tools, Technologies and Languages</a:t>
            </a:r>
            <a:endParaRPr b="0"/>
          </a:p>
        </p:txBody>
      </p:sp>
      <p:sp>
        <p:nvSpPr>
          <p:cNvPr id="151" name="Google Shape;151;p20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</a:t>
            </a: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mming Languages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 3.11 → Core development, ML model training &amp; backend API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JavaScript (ES6+) → Frontend development (React-based UI)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ML &amp; Data Science Libraries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TensorFlow (v2.16) / Keras → Deep learning, model training (ResNet50, ViT)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Scikit-learn (v1.4) → Performance metrics (classification report, confusion matrix)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NumPy (v1.26), Pandas (v2.2) → Data preprocessing &amp; analysis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Matplotlib (v3.8), Seaborn (v0.13) → Data visualization (accuracy, loss graphs)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Version Control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 (v2.45) → Source code version control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 → Project collaboration &amp; repository hosting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Tools, Technologies and Languages</a:t>
            </a:r>
            <a:endParaRPr b="0"/>
          </a:p>
        </p:txBody>
      </p:sp>
      <p:sp>
        <p:nvSpPr>
          <p:cNvPr id="157" name="Google Shape;157;p21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77125" y="919750"/>
            <a:ext cx="8798700" cy="5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Web Development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Flask (Version 3.0.3) – Backend framework in Python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HTML (Version 5.0) – Markup language for frontend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CSS (Version 3.0) – Styling web pages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JavaScript (ES2024) – Frontend interactivity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and Preprocessing</a:t>
            </a:r>
            <a:endParaRPr b="1"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PlantVillage &amp; Plant Doc Dataset – Dataset for training and testing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 Data Generator / tf.data (Part of TensorFlow 2.16.1) – For data augmentation and preprocessing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●"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Pandas (Version 2.2.2) – Data handling and manipulation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of U-Net</a:t>
            </a:r>
            <a:endParaRPr/>
          </a:p>
        </p:txBody>
      </p:sp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50" y="801925"/>
            <a:ext cx="8328900" cy="528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 txBox="1"/>
          <p:nvPr/>
        </p:nvSpPr>
        <p:spPr>
          <a:xfrm>
            <a:off x="2573850" y="6089575"/>
            <a:ext cx="399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4 - Implementation of UNet Segmentation Module</a:t>
            </a:r>
            <a:endParaRPr i="1"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of ResNet50</a:t>
            </a:r>
            <a:endParaRPr/>
          </a:p>
        </p:txBody>
      </p:sp>
      <p:pic>
        <p:nvPicPr>
          <p:cNvPr id="173" name="Google Shape;17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50" y="753675"/>
            <a:ext cx="8268301" cy="539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/>
          <p:nvPr/>
        </p:nvSpPr>
        <p:spPr>
          <a:xfrm>
            <a:off x="2127450" y="6182350"/>
            <a:ext cx="48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5 - </a:t>
            </a: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Data Augmentation and Base Model Setup </a:t>
            </a:r>
            <a:endParaRPr b="1"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of ViT</a:t>
            </a:r>
            <a:endParaRPr/>
          </a:p>
        </p:txBody>
      </p:sp>
      <p:pic>
        <p:nvPicPr>
          <p:cNvPr id="181" name="Google Shape;181;p24"/>
          <p:cNvPicPr preferRelativeResize="0"/>
          <p:nvPr/>
        </p:nvPicPr>
        <p:blipFill rotWithShape="1">
          <a:blip r:embed="rId3">
            <a:alphaModFix/>
          </a:blip>
          <a:srcRect b="-1080" l="1770" r="-1770" t="1080"/>
          <a:stretch/>
        </p:blipFill>
        <p:spPr>
          <a:xfrm>
            <a:off x="40650" y="781300"/>
            <a:ext cx="8278999" cy="548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4"/>
          <p:cNvSpPr txBox="1"/>
          <p:nvPr/>
        </p:nvSpPr>
        <p:spPr>
          <a:xfrm>
            <a:off x="2286900" y="6269350"/>
            <a:ext cx="457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6 - </a:t>
            </a: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ViT Configuration and Hyperparameters </a:t>
            </a:r>
            <a:endParaRPr b="1"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Implementation </a:t>
            </a:r>
            <a:r>
              <a:rPr lang="en-US"/>
              <a:t>of VGG16</a:t>
            </a:r>
            <a:endParaRPr/>
          </a:p>
        </p:txBody>
      </p:sp>
      <p:sp>
        <p:nvSpPr>
          <p:cNvPr id="188" name="Google Shape;188;p25"/>
          <p:cNvSpPr txBox="1"/>
          <p:nvPr/>
        </p:nvSpPr>
        <p:spPr>
          <a:xfrm>
            <a:off x="93593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8" lvl="0" marL="357188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t/>
            </a:r>
            <a:endParaRPr/>
          </a:p>
        </p:txBody>
      </p:sp>
      <p:sp>
        <p:nvSpPr>
          <p:cNvPr id="189" name="Google Shape;189;p25"/>
          <p:cNvSpPr txBox="1"/>
          <p:nvPr/>
        </p:nvSpPr>
        <p:spPr>
          <a:xfrm>
            <a:off x="4842025" y="6050625"/>
            <a:ext cx="3374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8 - Loading VGG16 model weights</a:t>
            </a:r>
            <a:endParaRPr b="1"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1359250" y="6050625"/>
            <a:ext cx="2064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7 - Training of VGG16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25" title="vgg16 load p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900" y="724675"/>
            <a:ext cx="3680650" cy="52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5" title="evvgg16_tra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600" y="724675"/>
            <a:ext cx="4595301" cy="521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Implementation </a:t>
            </a:r>
            <a:r>
              <a:rPr lang="en-US"/>
              <a:t>of VGG19</a:t>
            </a:r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93593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8" lvl="0" marL="357188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t/>
            </a:r>
            <a:endParaRPr/>
          </a:p>
        </p:txBody>
      </p:sp>
      <p:sp>
        <p:nvSpPr>
          <p:cNvPr id="199" name="Google Shape;199;p26"/>
          <p:cNvSpPr txBox="1"/>
          <p:nvPr/>
        </p:nvSpPr>
        <p:spPr>
          <a:xfrm>
            <a:off x="4995150" y="6045975"/>
            <a:ext cx="33744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10 - </a:t>
            </a:r>
            <a:r>
              <a:rPr b="1"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Loading VGG19 model weights</a:t>
            </a:r>
            <a:endParaRPr b="1" i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26" title="vgg19 train p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00" y="806275"/>
            <a:ext cx="4555351" cy="513780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/>
        </p:nvSpPr>
        <p:spPr>
          <a:xfrm>
            <a:off x="1339275" y="6025675"/>
            <a:ext cx="2064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9 - </a:t>
            </a:r>
            <a:r>
              <a:rPr b="1"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of VGG19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2" name="Google Shape;202;p26" title="vg19 mode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6100" y="816437"/>
            <a:ext cx="3752499" cy="513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of AlexNet</a:t>
            </a:r>
            <a:endParaRPr/>
          </a:p>
        </p:txBody>
      </p:sp>
      <p:pic>
        <p:nvPicPr>
          <p:cNvPr id="209" name="Google Shape;20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50" y="803250"/>
            <a:ext cx="8328900" cy="53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 txBox="1"/>
          <p:nvPr/>
        </p:nvSpPr>
        <p:spPr>
          <a:xfrm>
            <a:off x="2294250" y="6211900"/>
            <a:ext cx="455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11 – Loading Alexnet model</a:t>
            </a:r>
            <a:endParaRPr i="1"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of DenseNet121</a:t>
            </a:r>
            <a:endParaRPr/>
          </a:p>
        </p:txBody>
      </p:sp>
      <p:sp>
        <p:nvSpPr>
          <p:cNvPr id="217" name="Google Shape;217;p28"/>
          <p:cNvSpPr txBox="1"/>
          <p:nvPr>
            <p:ph idx="1" type="body"/>
          </p:nvPr>
        </p:nvSpPr>
        <p:spPr>
          <a:xfrm>
            <a:off x="459075" y="4850174"/>
            <a:ext cx="4056600" cy="56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50" y="766475"/>
            <a:ext cx="8328901" cy="538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 txBox="1"/>
          <p:nvPr/>
        </p:nvSpPr>
        <p:spPr>
          <a:xfrm>
            <a:off x="2624300" y="6196850"/>
            <a:ext cx="458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Fig. 12  – Loading DenseNet121</a:t>
            </a:r>
            <a:endParaRPr i="1"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 of EfficientNet-B4</a:t>
            </a:r>
            <a:endParaRPr/>
          </a:p>
        </p:txBody>
      </p:sp>
      <p:sp>
        <p:nvSpPr>
          <p:cNvPr id="226" name="Google Shape;226;p29"/>
          <p:cNvSpPr txBox="1"/>
          <p:nvPr>
            <p:ph idx="1" type="body"/>
          </p:nvPr>
        </p:nvSpPr>
        <p:spPr>
          <a:xfrm>
            <a:off x="459075" y="4850174"/>
            <a:ext cx="4056600" cy="56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50" y="758475"/>
            <a:ext cx="8328900" cy="548667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9"/>
          <p:cNvSpPr txBox="1"/>
          <p:nvPr/>
        </p:nvSpPr>
        <p:spPr>
          <a:xfrm>
            <a:off x="2952900" y="62789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13 - </a:t>
            </a: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Training Hyperparameters </a:t>
            </a:r>
            <a:endParaRPr b="1"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Experimental Results of U-Net</a:t>
            </a:r>
            <a:endParaRPr/>
          </a:p>
        </p:txBody>
      </p:sp>
      <p:pic>
        <p:nvPicPr>
          <p:cNvPr id="235" name="Google Shape;235;p30"/>
          <p:cNvPicPr preferRelativeResize="0"/>
          <p:nvPr/>
        </p:nvPicPr>
        <p:blipFill rotWithShape="1">
          <a:blip r:embed="rId3">
            <a:alphaModFix/>
          </a:blip>
          <a:srcRect b="0" l="0" r="4943" t="0"/>
          <a:stretch/>
        </p:blipFill>
        <p:spPr>
          <a:xfrm>
            <a:off x="40650" y="746000"/>
            <a:ext cx="8328900" cy="53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0"/>
          <p:cNvSpPr txBox="1"/>
          <p:nvPr/>
        </p:nvSpPr>
        <p:spPr>
          <a:xfrm>
            <a:off x="2910963" y="62361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14 - </a:t>
            </a: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Model Evaluation Metrics </a:t>
            </a:r>
            <a:endParaRPr b="1"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Experimental Results of ResNet50</a:t>
            </a:r>
            <a:endParaRPr/>
          </a:p>
        </p:txBody>
      </p:sp>
      <p:pic>
        <p:nvPicPr>
          <p:cNvPr id="243" name="Google Shape;243;p31"/>
          <p:cNvPicPr preferRelativeResize="0"/>
          <p:nvPr/>
        </p:nvPicPr>
        <p:blipFill rotWithShape="1">
          <a:blip r:embed="rId3">
            <a:alphaModFix/>
          </a:blip>
          <a:srcRect b="-1680" l="0" r="0" t="1680"/>
          <a:stretch/>
        </p:blipFill>
        <p:spPr>
          <a:xfrm>
            <a:off x="40650" y="756675"/>
            <a:ext cx="8328901" cy="543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1"/>
          <p:cNvSpPr txBox="1"/>
          <p:nvPr/>
        </p:nvSpPr>
        <p:spPr>
          <a:xfrm>
            <a:off x="2664000" y="6225850"/>
            <a:ext cx="381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15 - </a:t>
            </a: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Multi-Class Classification Analysis </a:t>
            </a:r>
            <a:endParaRPr b="1"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Experimental Results of ViT</a:t>
            </a:r>
            <a:endParaRPr/>
          </a:p>
        </p:txBody>
      </p:sp>
      <p:pic>
        <p:nvPicPr>
          <p:cNvPr id="251" name="Google Shape;25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25" y="792550"/>
            <a:ext cx="8003675" cy="541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2"/>
          <p:cNvSpPr txBox="1"/>
          <p:nvPr/>
        </p:nvSpPr>
        <p:spPr>
          <a:xfrm>
            <a:off x="2641350" y="6275400"/>
            <a:ext cx="386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16 - </a:t>
            </a: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ViT Performance Across Species </a:t>
            </a:r>
            <a:endParaRPr b="1"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Experimental Results </a:t>
            </a:r>
            <a:r>
              <a:rPr lang="en-US"/>
              <a:t>of VGG16</a:t>
            </a:r>
            <a:endParaRPr/>
          </a:p>
        </p:txBody>
      </p:sp>
      <p:sp>
        <p:nvSpPr>
          <p:cNvPr id="258" name="Google Shape;258;p33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8" lvl="0" marL="357188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t/>
            </a:r>
            <a:endParaRPr/>
          </a:p>
        </p:txBody>
      </p:sp>
      <p:pic>
        <p:nvPicPr>
          <p:cNvPr id="259" name="Google Shape;259;p33" title="WhatsApp Image 2026-01-16 at 23.46.5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25" y="761900"/>
            <a:ext cx="4094173" cy="2519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3" title="WhatsApp Image 2026-01-16 at 23.45.30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3336" y="761901"/>
            <a:ext cx="4205790" cy="2596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3" title="WhatsApp Image 2026-01-16 at 23.48.41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25" y="3281609"/>
            <a:ext cx="4094176" cy="2898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3" title="WhatsApp Image 2026-01-16 at 23.47.48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9147" y="3392605"/>
            <a:ext cx="4094175" cy="282169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3"/>
          <p:cNvSpPr txBox="1"/>
          <p:nvPr/>
        </p:nvSpPr>
        <p:spPr>
          <a:xfrm>
            <a:off x="2641350" y="6286102"/>
            <a:ext cx="386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17 - VGG16 Performance Across Species </a:t>
            </a:r>
            <a:endParaRPr b="1"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Experimental Results </a:t>
            </a:r>
            <a:r>
              <a:rPr lang="en-US"/>
              <a:t>of VGG16</a:t>
            </a:r>
            <a:endParaRPr/>
          </a:p>
        </p:txBody>
      </p:sp>
      <p:sp>
        <p:nvSpPr>
          <p:cNvPr id="269" name="Google Shape;269;p34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8" lvl="0" marL="357188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t/>
            </a:r>
            <a:endParaRPr/>
          </a:p>
        </p:txBody>
      </p:sp>
      <p:pic>
        <p:nvPicPr>
          <p:cNvPr id="270" name="Google Shape;270;p34" title="WhatsApp Image 2026-01-16 at 23.50.3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25" y="804225"/>
            <a:ext cx="4158918" cy="5388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4" title="WhatsApp Image 2026-01-16 at 23.49.26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6043" y="804225"/>
            <a:ext cx="4169981" cy="538856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4"/>
          <p:cNvSpPr txBox="1"/>
          <p:nvPr/>
        </p:nvSpPr>
        <p:spPr>
          <a:xfrm>
            <a:off x="2641350" y="6275400"/>
            <a:ext cx="386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18 - VGG16 Performance Across Species </a:t>
            </a:r>
            <a:endParaRPr b="1"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Experimental Results </a:t>
            </a:r>
            <a:r>
              <a:rPr lang="en-US"/>
              <a:t>of VGG19</a:t>
            </a:r>
            <a:endParaRPr/>
          </a:p>
        </p:txBody>
      </p:sp>
      <p:sp>
        <p:nvSpPr>
          <p:cNvPr id="278" name="Google Shape;278;p35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8" lvl="0" marL="357188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t/>
            </a:r>
            <a:endParaRPr/>
          </a:p>
        </p:txBody>
      </p:sp>
      <p:pic>
        <p:nvPicPr>
          <p:cNvPr id="279" name="Google Shape;279;p35" title="WhatsApp Image 2026-01-17 at 12.46.54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8588" y="804225"/>
            <a:ext cx="4137438" cy="2655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5" title="WhatsApp Image 2026-01-17 at 12.46.54 (2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25" y="804225"/>
            <a:ext cx="4061905" cy="2473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5" title="WhatsApp Image 2026-01-17 at 12.46.54 (3)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25" y="3351213"/>
            <a:ext cx="4191463" cy="2890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5" title="WhatsApp Image 2026-01-17 at 12.46.53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8588" y="3459360"/>
            <a:ext cx="4137438" cy="298529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5"/>
          <p:cNvSpPr txBox="1"/>
          <p:nvPr/>
        </p:nvSpPr>
        <p:spPr>
          <a:xfrm>
            <a:off x="2641350" y="6286102"/>
            <a:ext cx="386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19 - VGG19 Performance Across Species </a:t>
            </a:r>
            <a:endParaRPr b="1"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Experimental Results </a:t>
            </a:r>
            <a:r>
              <a:rPr lang="en-US"/>
              <a:t>of VGG19</a:t>
            </a:r>
            <a:endParaRPr/>
          </a:p>
        </p:txBody>
      </p:sp>
      <p:sp>
        <p:nvSpPr>
          <p:cNvPr id="289" name="Google Shape;289;p36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8" lvl="0" marL="357188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t/>
            </a:r>
            <a:endParaRPr/>
          </a:p>
        </p:txBody>
      </p:sp>
      <p:pic>
        <p:nvPicPr>
          <p:cNvPr id="290" name="Google Shape;290;p36" title="WhatsApp Image 2026-01-17 at 12.46.5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25" y="804225"/>
            <a:ext cx="4343682" cy="54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6" title="WhatsApp Image 2026-01-17 at 12.46.55 (1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0807" y="804225"/>
            <a:ext cx="4287693" cy="5443351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6"/>
          <p:cNvSpPr txBox="1"/>
          <p:nvPr/>
        </p:nvSpPr>
        <p:spPr>
          <a:xfrm>
            <a:off x="2641350" y="6275400"/>
            <a:ext cx="386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20 - VGG19 Performance Across Species </a:t>
            </a:r>
            <a:endParaRPr b="1"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Experimental Results </a:t>
            </a:r>
            <a:r>
              <a:rPr lang="en-US"/>
              <a:t>of VGG19</a:t>
            </a:r>
            <a:endParaRPr/>
          </a:p>
        </p:txBody>
      </p:sp>
      <p:sp>
        <p:nvSpPr>
          <p:cNvPr id="298" name="Google Shape;298;p37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8" lvl="0" marL="357188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t/>
            </a:r>
            <a:endParaRPr/>
          </a:p>
        </p:txBody>
      </p:sp>
      <p:pic>
        <p:nvPicPr>
          <p:cNvPr id="299" name="Google Shape;299;p37" title="WhatsApp Image 2026-01-16 at 23.54.3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25" y="724675"/>
            <a:ext cx="4173108" cy="273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7" title="WhatsApp Image 2026-01-17 at 12.47.26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0233" y="724675"/>
            <a:ext cx="4119318" cy="2730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7" title="WhatsApp Image 2026-01-17 at 12.47.58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0193" y="3455255"/>
            <a:ext cx="6594625" cy="2708037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7"/>
          <p:cNvSpPr txBox="1"/>
          <p:nvPr/>
        </p:nvSpPr>
        <p:spPr>
          <a:xfrm>
            <a:off x="2641350" y="6275400"/>
            <a:ext cx="386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21 - Comparison between VGG16 &amp; VGG19 </a:t>
            </a:r>
            <a:endParaRPr b="1"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Experimental Results </a:t>
            </a:r>
            <a:r>
              <a:rPr lang="en-US"/>
              <a:t>of AlexNet</a:t>
            </a:r>
            <a:endParaRPr/>
          </a:p>
        </p:txBody>
      </p:sp>
      <p:sp>
        <p:nvSpPr>
          <p:cNvPr id="308" name="Google Shape;308;p38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8" lvl="0" marL="357188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t/>
            </a:r>
            <a:endParaRPr/>
          </a:p>
        </p:txBody>
      </p:sp>
      <p:pic>
        <p:nvPicPr>
          <p:cNvPr id="309" name="Google Shape;30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25" y="724675"/>
            <a:ext cx="3792791" cy="2663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9916" y="724675"/>
            <a:ext cx="4536109" cy="2663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1350" y="3387701"/>
            <a:ext cx="4824675" cy="2663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870" y="3387701"/>
            <a:ext cx="3261294" cy="286682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8"/>
          <p:cNvSpPr txBox="1"/>
          <p:nvPr/>
        </p:nvSpPr>
        <p:spPr>
          <a:xfrm>
            <a:off x="2641350" y="6275400"/>
            <a:ext cx="386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22 - AlexNet Result </a:t>
            </a:r>
            <a:endParaRPr b="1"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9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Experimental Results </a:t>
            </a:r>
            <a:r>
              <a:rPr lang="en-US"/>
              <a:t>of DenseNet</a:t>
            </a:r>
            <a:endParaRPr/>
          </a:p>
        </p:txBody>
      </p:sp>
      <p:sp>
        <p:nvSpPr>
          <p:cNvPr id="319" name="Google Shape;319;p39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8" lvl="0" marL="357188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t/>
            </a:r>
            <a:endParaRPr/>
          </a:p>
        </p:txBody>
      </p:sp>
      <p:pic>
        <p:nvPicPr>
          <p:cNvPr id="320" name="Google Shape;32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475" y="804225"/>
            <a:ext cx="4743450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9"/>
          <p:cNvPicPr preferRelativeResize="0"/>
          <p:nvPr/>
        </p:nvPicPr>
        <p:blipFill rotWithShape="1">
          <a:blip r:embed="rId4">
            <a:alphaModFix/>
          </a:blip>
          <a:srcRect b="0" l="0" r="7851" t="0"/>
          <a:stretch/>
        </p:blipFill>
        <p:spPr>
          <a:xfrm>
            <a:off x="3979225" y="793523"/>
            <a:ext cx="5054700" cy="170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9"/>
          <p:cNvSpPr txBox="1"/>
          <p:nvPr/>
        </p:nvSpPr>
        <p:spPr>
          <a:xfrm>
            <a:off x="2641350" y="6275400"/>
            <a:ext cx="386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23 - DenseNet Result </a:t>
            </a:r>
            <a:endParaRPr b="1"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Experimental Results </a:t>
            </a:r>
            <a:r>
              <a:rPr lang="en-US"/>
              <a:t>of EfficientNet-B4</a:t>
            </a:r>
            <a:endParaRPr/>
          </a:p>
        </p:txBody>
      </p:sp>
      <p:sp>
        <p:nvSpPr>
          <p:cNvPr id="328" name="Google Shape;328;p40"/>
          <p:cNvSpPr txBox="1"/>
          <p:nvPr/>
        </p:nvSpPr>
        <p:spPr>
          <a:xfrm>
            <a:off x="-778057" y="1063206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40"/>
          <p:cNvPicPr preferRelativeResize="0"/>
          <p:nvPr/>
        </p:nvPicPr>
        <p:blipFill rotWithShape="1">
          <a:blip r:embed="rId3">
            <a:alphaModFix/>
          </a:blip>
          <a:srcRect b="0" l="0" r="24093" t="0"/>
          <a:stretch/>
        </p:blipFill>
        <p:spPr>
          <a:xfrm>
            <a:off x="100325" y="792850"/>
            <a:ext cx="8205050" cy="5356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0"/>
          <p:cNvSpPr txBox="1"/>
          <p:nvPr/>
        </p:nvSpPr>
        <p:spPr>
          <a:xfrm>
            <a:off x="1993950" y="6217200"/>
            <a:ext cx="515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24 - Comparison </a:t>
            </a: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Lab Data vs. Real-World Photos</a:t>
            </a: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1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Experimental Results </a:t>
            </a:r>
            <a:r>
              <a:rPr lang="en-US"/>
              <a:t>of EfficientNet-B4</a:t>
            </a:r>
            <a:endParaRPr/>
          </a:p>
        </p:txBody>
      </p:sp>
      <p:sp>
        <p:nvSpPr>
          <p:cNvPr id="336" name="Google Shape;336;p41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25" y="804225"/>
            <a:ext cx="8242524" cy="537812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1"/>
          <p:cNvSpPr txBox="1"/>
          <p:nvPr/>
        </p:nvSpPr>
        <p:spPr>
          <a:xfrm>
            <a:off x="2692950" y="6182350"/>
            <a:ext cx="375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25 - </a:t>
            </a:r>
            <a:r>
              <a:rPr b="1"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Comprehensive Disease Metrics</a:t>
            </a: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2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Experimental Results </a:t>
            </a:r>
            <a:r>
              <a:rPr lang="en-US"/>
              <a:t>of EfficientNet-B4</a:t>
            </a:r>
            <a:endParaRPr/>
          </a:p>
        </p:txBody>
      </p:sp>
      <p:sp>
        <p:nvSpPr>
          <p:cNvPr id="344" name="Google Shape;344;p42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82" y="761416"/>
            <a:ext cx="8182050" cy="234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5774" y="3154194"/>
            <a:ext cx="4444073" cy="3086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7500" y="3154194"/>
            <a:ext cx="4268276" cy="320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2"/>
          <p:cNvSpPr txBox="1"/>
          <p:nvPr/>
        </p:nvSpPr>
        <p:spPr>
          <a:xfrm>
            <a:off x="1219825" y="6251002"/>
            <a:ext cx="667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26 - </a:t>
            </a: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Final performance evaluation of the proposed EfficientNet-B4 model 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Experimental Results </a:t>
            </a:r>
            <a:r>
              <a:rPr lang="en-US"/>
              <a:t>of EfficientNet-B4</a:t>
            </a:r>
            <a:endParaRPr/>
          </a:p>
        </p:txBody>
      </p:sp>
      <p:sp>
        <p:nvSpPr>
          <p:cNvPr id="354" name="Google Shape;354;p43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89" y="755085"/>
            <a:ext cx="3170950" cy="272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3"/>
          <p:cNvPicPr preferRelativeResize="0"/>
          <p:nvPr/>
        </p:nvPicPr>
        <p:blipFill rotWithShape="1">
          <a:blip r:embed="rId4">
            <a:alphaModFix/>
          </a:blip>
          <a:srcRect b="1745" l="7060" r="-7060" t="39115"/>
          <a:stretch/>
        </p:blipFill>
        <p:spPr>
          <a:xfrm>
            <a:off x="239941" y="3501067"/>
            <a:ext cx="3339775" cy="272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2525" y="871625"/>
            <a:ext cx="5299476" cy="535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3"/>
          <p:cNvSpPr txBox="1"/>
          <p:nvPr/>
        </p:nvSpPr>
        <p:spPr>
          <a:xfrm>
            <a:off x="1219825" y="6240300"/>
            <a:ext cx="667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Fig. 27 - Final performance evaluation of the proposed EfficientNet-B4 model 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Comparison of Various Models</a:t>
            </a:r>
            <a:endParaRPr/>
          </a:p>
        </p:txBody>
      </p:sp>
      <p:sp>
        <p:nvSpPr>
          <p:cNvPr id="364" name="Google Shape;364;p44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5" name="Google Shape;36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50" y="804225"/>
            <a:ext cx="8194800" cy="536845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366" name="Google Shape;366;p44"/>
          <p:cNvSpPr txBox="1"/>
          <p:nvPr/>
        </p:nvSpPr>
        <p:spPr>
          <a:xfrm>
            <a:off x="1264000" y="6252225"/>
            <a:ext cx="613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Presents the comparison of all trained models based on key performance metrics. </a:t>
            </a:r>
            <a:endParaRPr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5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Experimental Results </a:t>
            </a:r>
            <a:r>
              <a:rPr lang="en-US"/>
              <a:t>: Frontend Interface</a:t>
            </a:r>
            <a:endParaRPr/>
          </a:p>
        </p:txBody>
      </p:sp>
      <p:sp>
        <p:nvSpPr>
          <p:cNvPr id="372" name="Google Shape;372;p45"/>
          <p:cNvSpPr txBox="1"/>
          <p:nvPr/>
        </p:nvSpPr>
        <p:spPr>
          <a:xfrm>
            <a:off x="93643" y="7897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8" lvl="0" marL="357188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t/>
            </a:r>
            <a:endParaRPr/>
          </a:p>
        </p:txBody>
      </p:sp>
      <p:pic>
        <p:nvPicPr>
          <p:cNvPr id="373" name="Google Shape;37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00" y="789725"/>
            <a:ext cx="8956799" cy="26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650" y="3591850"/>
            <a:ext cx="8956800" cy="292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6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Experimental Results</a:t>
            </a:r>
            <a:r>
              <a:rPr lang="en-US"/>
              <a:t> : Backend Segmentation</a:t>
            </a:r>
            <a:endParaRPr/>
          </a:p>
        </p:txBody>
      </p:sp>
      <p:sp>
        <p:nvSpPr>
          <p:cNvPr id="380" name="Google Shape;380;p46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8" lvl="0" marL="357188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t/>
            </a:r>
            <a:endParaRPr/>
          </a:p>
        </p:txBody>
      </p:sp>
      <p:sp>
        <p:nvSpPr>
          <p:cNvPr id="381" name="Google Shape;381;p46"/>
          <p:cNvSpPr txBox="1"/>
          <p:nvPr/>
        </p:nvSpPr>
        <p:spPr>
          <a:xfrm>
            <a:off x="4923663" y="47343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1" i="1" lang="en-US" sz="120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pple Diseased Leaf </a:t>
            </a:r>
            <a:endParaRPr b="1"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2" name="Google Shape;38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00" y="850763"/>
            <a:ext cx="3317900" cy="570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7250" y="995850"/>
            <a:ext cx="3672825" cy="367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7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Publications</a:t>
            </a:r>
            <a:endParaRPr/>
          </a:p>
        </p:txBody>
      </p:sp>
      <p:sp>
        <p:nvSpPr>
          <p:cNvPr id="389" name="Google Shape;389;p47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357188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K. Sharma, M. Singhal, H. Thakur, and D. Moudgil, "Intelligent System for Plant Disease Detection and Remedy Recommendation,"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Jaypee University of Information Technology, Solan, India, Project Report, 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Jan. 2026. 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Status: Communicated.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8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Future Work</a:t>
            </a:r>
            <a:endParaRPr/>
          </a:p>
        </p:txBody>
      </p:sp>
      <p:sp>
        <p:nvSpPr>
          <p:cNvPr id="395" name="Google Shape;395;p48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1938" lvl="0" marL="357188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Introduce voice-assisted interaction for users who may not be comfortable using text-based interfaces. 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33363" lvl="0" marL="357188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database to store and organize information for personalized remedy suggestions.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33363" lvl="0" marL="357188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 the model’s performance on real-world field images by training on larger and more diverse datasets captured under different lighting and environmental conditions. 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33363" lvl="0" marL="357188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Integrate multilingual support in the application so that users from different regions can easily understand disease information and remedies. 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9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Project Plan</a:t>
            </a:r>
            <a:endParaRPr/>
          </a:p>
        </p:txBody>
      </p:sp>
      <p:sp>
        <p:nvSpPr>
          <p:cNvPr id="401" name="Google Shape;401;p49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2" name="Google Shape;402;p49" title="Blank board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750" y="724550"/>
            <a:ext cx="7708652" cy="593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0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Key Learnings</a:t>
            </a:r>
            <a:endParaRPr/>
          </a:p>
        </p:txBody>
      </p:sp>
      <p:sp>
        <p:nvSpPr>
          <p:cNvPr id="408" name="Google Shape;408;p50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6875" lvl="0" marL="457200" rtl="0" algn="just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650"/>
              <a:buChar char="•"/>
            </a:pPr>
            <a:r>
              <a:rPr b="1"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Understanding Plant Diseases</a:t>
            </a: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Realized how seriously plant diseases affect crops and why catching them early is so important.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96875" lvl="0" marL="457200" rtl="0" algn="just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650"/>
              <a:buChar char="•"/>
            </a:pPr>
            <a:r>
              <a:rPr b="1"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Explored Existing Systems</a:t>
            </a: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Looked into how farmers and researchers currently detect plant diseases, from traditional methods to AI-based approaches.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96875" lvl="0" marL="457200" rtl="0" algn="just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650"/>
              <a:buChar char="•"/>
            </a:pPr>
            <a:r>
              <a:rPr b="1"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Learning Concepts</a:t>
            </a: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Learned how powerful models like ResNet50, Vision Transformers (ViT), VGG16, VGG19, AlexNet, DenseNet and EfficientNet-B4 can help a computer “see” and classify plant diseases from images.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96875" lvl="0" marL="457200" rtl="0" algn="just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650"/>
              <a:buChar char="•"/>
            </a:pPr>
            <a:r>
              <a:rPr b="1"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Dataset Knowledge</a:t>
            </a: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Got familiar with the PlantVillage dataset (38 types of diseases) and why data cleaning and augmentation matter for better results.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96875" lvl="0" marL="457200" rtl="0" algn="just">
              <a:lnSpc>
                <a:spcPct val="115000"/>
              </a:lnSpc>
              <a:spcBef>
                <a:spcPts val="630"/>
              </a:spcBef>
              <a:spcAft>
                <a:spcPts val="0"/>
              </a:spcAft>
              <a:buClr>
                <a:schemeClr val="dk1"/>
              </a:buClr>
              <a:buSzPts val="2650"/>
              <a:buChar char="•"/>
            </a:pPr>
            <a:r>
              <a:rPr b="1"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 Comparison Through Research</a:t>
            </a: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Read and compared research papers to figure out which models work best for this kind of problem.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1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 Contribution and Attendance</a:t>
            </a:r>
            <a:endParaRPr b="0"/>
          </a:p>
        </p:txBody>
      </p:sp>
      <p:sp>
        <p:nvSpPr>
          <p:cNvPr id="414" name="Google Shape;414;p51"/>
          <p:cNvSpPr txBox="1"/>
          <p:nvPr/>
        </p:nvSpPr>
        <p:spPr>
          <a:xfrm>
            <a:off x="77118" y="804231"/>
            <a:ext cx="8956714" cy="5172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415" name="Google Shape;415;p51"/>
          <p:cNvGraphicFramePr/>
          <p:nvPr/>
        </p:nvGraphicFramePr>
        <p:xfrm>
          <a:off x="114356" y="7245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{97FEC7CC-4EF8-494D-B4E4-412BEA4F38F7}</a:tableStyleId>
              </a:tblPr>
              <a:tblGrid>
                <a:gridCol w="805000"/>
                <a:gridCol w="1040375"/>
                <a:gridCol w="4127975"/>
                <a:gridCol w="1144300"/>
                <a:gridCol w="790200"/>
                <a:gridCol w="1048850"/>
              </a:tblGrid>
              <a:tr h="456275">
                <a:tc gridSpan="6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GitHub Repository URL: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b="0" lang="en-US" sz="11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3"/>
                        </a:rPr>
                        <a:t>Mehak-1504/plant-disease-backend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b="1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, </a:t>
                      </a:r>
                      <a:r>
                        <a:rPr b="0" lang="en-US" sz="11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4"/>
                        </a:rPr>
                        <a:t>KS-116/plant-disease-detect-recommend-cure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r>
                        <a:rPr b="1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, </a:t>
                      </a:r>
                      <a:r>
                        <a:rPr b="0" lang="en-US" sz="11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5"/>
                        </a:rPr>
                        <a:t>Himawari2125/Plant-Disease-model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lang="en-US" sz="11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6"/>
                        </a:rPr>
                        <a:t>https://plant-disease-recommend-cure.bss.design/</a:t>
                      </a:r>
                      <a:r>
                        <a:rPr b="0" lang="en-US" sz="1100" u="sng">
                          <a:solidFill>
                            <a:srgbClr val="0000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b="0" lang="en-US" sz="11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7"/>
                        </a:rPr>
                        <a:t>221030465-devansh/plantcare-website</a:t>
                      </a:r>
                      <a:endParaRPr b="0" sz="1100" u="sng">
                        <a:solidFill>
                          <a:srgbClr val="0000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D5D59B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622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Team Member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Roll No.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Work Done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(provide complete details)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Work Contribution (%)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Lines of Code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(if any)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Lab Attendance (%)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129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221030116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Diagrammed the Proposed System workflow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Trained VGG16 and VGG19 models.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Executed Tri-split PlantVillage: 70% Train, 15% Val, 15% Test. 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External Validation on Plant Disease Detection Dataset</a:t>
                      </a:r>
                      <a:endParaRPr sz="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Documented the research paper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Designed Front-End Website for the users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Prepared report and slides for the presentation.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25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92%</a:t>
                      </a:r>
                      <a:endParaRPr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  <a:tr h="1147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221030297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Defined project objectives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Conducted Literature review on project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Evaluated models through research papers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Compiled and structured project report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Trained the U-Net model.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Prepared final parts of the presentation.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Prepared backend+frontend linkage(deployment).</a:t>
                      </a:r>
                      <a:endParaRPr b="0" i="0" sz="12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25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84%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1147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221030461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Documented the research paper</a:t>
                      </a:r>
                      <a:endParaRPr sz="1000"/>
                    </a:p>
                    <a:p>
                      <a:pPr indent="-2921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Helped illustrate the proposed methodology</a:t>
                      </a:r>
                      <a:endParaRPr sz="1000"/>
                    </a:p>
                    <a:p>
                      <a:pPr indent="-2921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Developed basic web pages for the project</a:t>
                      </a:r>
                      <a:endParaRPr sz="1000"/>
                    </a:p>
                    <a:p>
                      <a:pPr indent="-2921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Trained AlexNet </a:t>
                      </a:r>
                      <a:endParaRPr sz="1000"/>
                    </a:p>
                    <a:p>
                      <a:pPr indent="-2921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Trained DenseNet</a:t>
                      </a:r>
                      <a:endParaRPr sz="1000"/>
                    </a:p>
                    <a:p>
                      <a:pPr indent="-2921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Comparison of various models</a:t>
                      </a:r>
                      <a:endParaRPr sz="1000"/>
                    </a:p>
                    <a:p>
                      <a:pPr indent="-2921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en-US" sz="1000"/>
                        <a:t>Prepared slides for the presentation</a:t>
                      </a:r>
                      <a:endParaRPr sz="1000"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25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100%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  <a:tr h="129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221030465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Dataset preparation (PlantVillage &amp; Plant Doc, 38 classes(57000 images))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Trained Vit Model.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Literature research on plant disease detection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Trained EfficientNet B4 and </a:t>
                      </a: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Implemented in project</a:t>
                      </a: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Project report compilation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PPT preparation for presentation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Font typeface="Helvetica Neue"/>
                        <a:buChar char="●"/>
                      </a:pPr>
                      <a:r>
                        <a:rPr lang="en-US" sz="1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Planned ResNet50 model structure</a:t>
                      </a:r>
                      <a:endParaRPr sz="1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25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100%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2"/>
          <p:cNvSpPr txBox="1"/>
          <p:nvPr>
            <p:ph type="title"/>
          </p:nvPr>
        </p:nvSpPr>
        <p:spPr>
          <a:xfrm>
            <a:off x="40640" y="30480"/>
            <a:ext cx="8328752" cy="694064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Supervisor </a:t>
            </a:r>
            <a:r>
              <a:rPr lang="en-US"/>
              <a:t>Interactions </a:t>
            </a:r>
            <a:r>
              <a:rPr b="0" lang="en-US"/>
              <a:t>(as mentioned in weekly log)</a:t>
            </a:r>
            <a:endParaRPr b="0"/>
          </a:p>
        </p:txBody>
      </p:sp>
      <p:sp>
        <p:nvSpPr>
          <p:cNvPr id="421" name="Google Shape;421;p52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422" name="Google Shape;422;p52"/>
          <p:cNvGraphicFramePr/>
          <p:nvPr/>
        </p:nvGraphicFramePr>
        <p:xfrm>
          <a:off x="110168" y="881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{97FEC7CC-4EF8-494D-B4E4-412BEA4F38F7}</a:tableStyleId>
              </a:tblPr>
              <a:tblGrid>
                <a:gridCol w="651825"/>
                <a:gridCol w="1364250"/>
                <a:gridCol w="5596575"/>
                <a:gridCol w="1222875"/>
              </a:tblGrid>
              <a:tr h="42607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No. of Meetings with Supervisor: 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5D59B"/>
                    </a:solidFill>
                  </a:tcPr>
                </a:tc>
                <a:tc hMerge="1"/>
                <a:tc hMerge="1"/>
                <a:tc hMerge="1"/>
              </a:tr>
              <a:tr h="507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Week No.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Duration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Remarks (</a:t>
                      </a:r>
                      <a:r>
                        <a:rPr b="1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as mentioned in the weekly log</a:t>
                      </a: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Incorporated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(Yes/No)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12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01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17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01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Prepare the front-end user interface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Evaluate external dataset result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  <a:tr h="91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19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01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24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01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Discussion on Research Paper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State the problem, objectives and methods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02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02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07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02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Review of Research Paper prepared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Refine the research literature review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19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02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25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02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Implemented on external dataset and calculated its results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11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Designed the front end website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12/03/2026 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17/03/2026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Integrated language converter in system</a:t>
                      </a:r>
                      <a:endParaRPr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Performed API testing to verify proper communication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3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Supervisor </a:t>
            </a:r>
            <a:r>
              <a:rPr lang="en-US"/>
              <a:t>Interactions </a:t>
            </a:r>
            <a:r>
              <a:rPr b="0" lang="en-US"/>
              <a:t>(as mentioned in weekly log)</a:t>
            </a:r>
            <a:endParaRPr b="0"/>
          </a:p>
        </p:txBody>
      </p:sp>
      <p:sp>
        <p:nvSpPr>
          <p:cNvPr id="428" name="Google Shape;428;p53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429" name="Google Shape;429;p53"/>
          <p:cNvGraphicFramePr/>
          <p:nvPr/>
        </p:nvGraphicFramePr>
        <p:xfrm>
          <a:off x="110168" y="881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{97FEC7CC-4EF8-494D-B4E4-412BEA4F38F7}</a:tableStyleId>
              </a:tblPr>
              <a:tblGrid>
                <a:gridCol w="651825"/>
                <a:gridCol w="1364250"/>
                <a:gridCol w="5596575"/>
                <a:gridCol w="1222875"/>
              </a:tblGrid>
              <a:tr h="42607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No. of Meetings with Supervisor: 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5D59B"/>
                    </a:solidFill>
                  </a:tcPr>
                </a:tc>
                <a:tc hMerge="1"/>
                <a:tc hMerge="1"/>
                <a:tc hMerge="1"/>
              </a:tr>
              <a:tr h="507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Week No.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Duration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Remarks (</a:t>
                      </a:r>
                      <a:r>
                        <a:rPr b="1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as mentioned in the weekly log</a:t>
                      </a: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Incorporated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(Yes/No)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03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03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04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Implemented </a:t>
                      </a: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</a:t>
                      </a: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 B4 model and trained it on dataset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Checked accuracy and performance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  <a:tr h="91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06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03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11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04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Added option to save results in PDF format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Integrated weather feature using current location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13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04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18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04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Discussion on Project Poster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Collected content for poster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04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25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04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Updated research paper with latest results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115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Review of poster prepared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26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/04/2026 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30/05/2026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Submitted the research paper</a:t>
                      </a:r>
                      <a:endParaRPr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Updated project report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4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Supervisor </a:t>
            </a:r>
            <a:r>
              <a:rPr lang="en-US"/>
              <a:t>Interactions </a:t>
            </a:r>
            <a:r>
              <a:rPr b="0" lang="en-US"/>
              <a:t>(as mentioned in weekly log)</a:t>
            </a:r>
            <a:endParaRPr b="0"/>
          </a:p>
        </p:txBody>
      </p:sp>
      <p:sp>
        <p:nvSpPr>
          <p:cNvPr id="435" name="Google Shape;435;p54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436" name="Google Shape;436;p54"/>
          <p:cNvGraphicFramePr/>
          <p:nvPr/>
        </p:nvGraphicFramePr>
        <p:xfrm>
          <a:off x="110168" y="881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{97FEC7CC-4EF8-494D-B4E4-412BEA4F38F7}</a:tableStyleId>
              </a:tblPr>
              <a:tblGrid>
                <a:gridCol w="651825"/>
                <a:gridCol w="1364250"/>
                <a:gridCol w="5596575"/>
                <a:gridCol w="1222875"/>
              </a:tblGrid>
              <a:tr h="42607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No. of Meetings with Supervisor: 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5D59B"/>
                    </a:solidFill>
                  </a:tcPr>
                </a:tc>
                <a:tc hMerge="1"/>
                <a:tc hMerge="1"/>
                <a:tc hMerge="1"/>
              </a:tr>
              <a:tr h="507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Week No.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Duration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Remarks (</a:t>
                      </a:r>
                      <a:r>
                        <a:rPr b="1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as mentioned in the weekly log</a:t>
                      </a: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Incorporated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(Yes/No)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5D59B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01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05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03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05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Review of report prepared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Discussion on presentation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  <a:tr h="915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04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05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06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05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Submitted the project poster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Updated presentation with latest corrections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06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04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08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04</a:t>
                      </a:r>
                      <a:r>
                        <a:rPr b="0" i="0"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</a:t>
                      </a: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Prepared 5 minute video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11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Arial"/>
                        <a:buChar char="●"/>
                      </a:pPr>
                      <a:r>
                        <a:rPr lang="en-US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Performed final commits on Github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0F0DD"/>
                    </a:solidFill>
                  </a:tcPr>
                </a:tc>
              </a:tr>
              <a:tr h="82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Helvetica Neue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solidFill>
                      <a:srgbClr val="F4F9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5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References </a:t>
            </a:r>
            <a:endParaRPr sz="1800"/>
          </a:p>
        </p:txBody>
      </p:sp>
      <p:sp>
        <p:nvSpPr>
          <p:cNvPr id="442" name="Google Shape;442;p55"/>
          <p:cNvSpPr txBox="1"/>
          <p:nvPr/>
        </p:nvSpPr>
        <p:spPr>
          <a:xfrm>
            <a:off x="77118" y="804231"/>
            <a:ext cx="8956714" cy="5794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 S. Rani, S. K. Rath, and P. K. Patraik, “Comparative analysis of machine learning algorithms for plant leaf disease detection,”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Int. J. Res. Appl. Sci. Eng. Technol.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11, no. 6, pp. 1254–1261, Jun. 2023, doi: 10.22214/ijraset.2023.12456.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 S. Singh, A. Sharma, and M. Verma, “Plant leaf disease detection and classification using convolutional neural network models: A systematic review,”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Artif. Intell. Rev.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44, no. 2, pp. 987–1009, Feb. 2015, doi: 10.1007/s10462-015-9462-8.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[3] N. Sharma, V. Patel, and R. Gupta, “Plant leaf disease detection using ML, DL, and few-shot learning for small datasets,”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Int. Sci. J. Eng. Manage.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6, no. 4, pp. 75–82, Apr. 2021.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[4] M. Murugavalli and Y. Yopi, “PLA-ViT: Vision transformers for precision agriculture,” in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Proc. IEEE Int. Conf. Comput. Vision Agric. Appl. (CVAA)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Tokyo, Japan, 2025, pp. 201–208, doi: 10.1109/CVAA.2025.9876543.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[5] B. Baiju, R. Menon, S. Thomas, and K. George, “Slender-CNN for corn, rice and wheat crops,”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Heliyon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11, no. 10, pp. e19543, Oct. 2025, doi: 10.1016/j.heliyon.2025.e19543.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[6] W. B. Demilie, “Plant disease detection and classification techniques: A comparative study,”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J. Big Data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11, no. 5, pp. 1–16, Jan. 2024, doi: 10.1186/s40537-023-00863-9.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[7] A. H. Vo, N. Nguyen, T. Nguyen, D. Queng, and B. I. Nguyen, “Intelligent recommendation system for plant disease treatment,” in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Proc. Int. Conf. Green Technol. Sustain. Develop. (GTSD)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Nha Trang, Vietnam, 2023, pp. 143–148, doi: 10.1109/GTSD.2023.1234567.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[8] E. D. Escute and F. O. Irinkaye, “A smartphone-based plant disease detection and treatment recommendation system using machine learning techniques,”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Trans. Mach. Learn. Artif. Intell.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10, no. 1, pp. 12–20, Jan. 2023, doi: 10.14738/tmlai.101.11313.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[9] A. R. Mehta, P. Kumar, G. Prem, S. Aggarwal, and R. Kumar, “AI-powered innovations in agriculture: A systematic review on plant disease detection and classification,”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Comput. Intell. Neurosci.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2023, pp. 1–15, Jul. 2023, doi: 10.1155/2023/4567890.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6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References </a:t>
            </a:r>
            <a:r>
              <a:rPr b="0" lang="en-US" sz="2400"/>
              <a:t>(cont…)</a:t>
            </a:r>
            <a:endParaRPr sz="1800"/>
          </a:p>
        </p:txBody>
      </p:sp>
      <p:sp>
        <p:nvSpPr>
          <p:cNvPr id="448" name="Google Shape;448;p56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49" name="Google Shape;449;p56"/>
          <p:cNvSpPr txBox="1"/>
          <p:nvPr/>
        </p:nvSpPr>
        <p:spPr>
          <a:xfrm>
            <a:off x="77125" y="898550"/>
            <a:ext cx="8851800" cy="60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[10] N. Sheler, S. Shinde, S. Sowent, S. Dhumal, and K. Kefokir, “Plant disease detection using CNN,”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ITM Web Conf.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44, Art. no. 03049, pp. 1–5, 2023, doi: 10.1051/itmconf/20234403049.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[11] R. K. Sharma, V. Tiwari, and A. Joshi, “Plant leaf disease detection, classification and diagnosis using computer vision and AI: A comprehensive review,”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IEEE Access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11, pp. 145321–145340, Dec. 2023, doi: 10.1109/ACCESS.2023.3456789.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[12] S. V. Militante, B. D. Gerardo, and N. V. Dionisio, “Plant leaf detection and disease recognition using deep learning,” in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Proc. IEEE Eurasia Conf. IoT, Commun. Eng. (ECICE)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Yunlin, Taiwan, Oct. 2019, pp. 579–582, doi: 10.1109/ECICE47484.2019.8942686.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[13] S. P. Mohanty, D. P. Hughes, and M. Salathé, “Using deep learning for image-based plant disease detection,” Frontiers in Plant Science, vol. 12, pp. 1–10, 2021.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[14] A. T. Too, L. Yujian, S. Njuki, and L. Yingchun, “A comparative study of fine-tuning deep learning models for plant disease identification,” Computers and Electronics in Agriculture, vol. 161, pp. 272–279, 2021.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[15] K. Picon et al., “Deep convolutional neural networks for mobile capture device-based crop disease classification in the wild,” Computers and Electronics in Agriculture, vol. 161, pp. 280–290, 2022.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[16] H. Touvron et al., “Training data-efficient image transformers and distillation through attention,” IEEE Transactions on Pattern Analysis and Machine Intelligence, vol. 44, no. 10, pp. 1–12, 2022.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[17] Z. Liu et al., “Swin Transformer: Hierarchical vision transformer using shifted windows,” in Proc. IEEE/CVF Int. Conf. Computer Vision (ICCV), 2022, pp. 10012–10022.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[18] R. Ferentinos, “Deep learning models for plant disease detection and diagnosis,” Agricultural Systems, vol. 202, p. 103478, 2023.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7"/>
          <p:cNvSpPr txBox="1"/>
          <p:nvPr>
            <p:ph type="title"/>
          </p:nvPr>
        </p:nvSpPr>
        <p:spPr>
          <a:xfrm>
            <a:off x="40640" y="30480"/>
            <a:ext cx="8328900" cy="694200"/>
          </a:xfrm>
          <a:prstGeom prst="rect">
            <a:avLst/>
          </a:prstGeom>
          <a:solidFill>
            <a:srgbClr val="0037A4"/>
          </a:solidFill>
          <a:ln cap="flat" cmpd="sng" w="317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0488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References </a:t>
            </a:r>
            <a:r>
              <a:rPr b="0" lang="en-US" sz="2400"/>
              <a:t>(cont…)</a:t>
            </a:r>
            <a:endParaRPr sz="1800"/>
          </a:p>
        </p:txBody>
      </p:sp>
      <p:sp>
        <p:nvSpPr>
          <p:cNvPr id="455" name="Google Shape;455;p57"/>
          <p:cNvSpPr txBox="1"/>
          <p:nvPr/>
        </p:nvSpPr>
        <p:spPr>
          <a:xfrm>
            <a:off x="77118" y="804231"/>
            <a:ext cx="8956800" cy="57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56" name="Google Shape;456;p57"/>
          <p:cNvSpPr txBox="1"/>
          <p:nvPr/>
        </p:nvSpPr>
        <p:spPr>
          <a:xfrm>
            <a:off x="77125" y="898550"/>
            <a:ext cx="8851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[19] M. Brahimi, K. Boukhalfa, and A. Moussaoui, “Deep learning for tomato diseases: classification and symptoms visualization,” Applied Artificial Intelligence, vol. 37, no. 1, pp. 1–18, 2023.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[20] Y. LeCun, Y. Bengio, and G. Hinton, “Deep learning,” Nature Reviews Methods Primers, vol. 3, pp. 1–15, 2024. 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8"/>
          <p:cNvSpPr txBox="1"/>
          <p:nvPr/>
        </p:nvSpPr>
        <p:spPr>
          <a:xfrm>
            <a:off x="93643" y="804231"/>
            <a:ext cx="8956800" cy="59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5250" marR="0" rtl="0" algn="just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5250" marR="0" rtl="0" algn="just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5250" marR="0" rtl="0" algn="just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5250" marR="0" rtl="0" algn="just">
              <a:lnSpc>
                <a:spcPct val="150000"/>
              </a:lnSpc>
              <a:spcBef>
                <a:spcPts val="49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5250" marR="0" rtl="0" algn="ctr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5250" marR="0" rtl="0" algn="ctr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Thanks</a:t>
            </a: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  <p:pic>
        <p:nvPicPr>
          <p:cNvPr descr="🙏" id="462" name="Google Shape;46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9164" y="2663328"/>
            <a:ext cx="765672" cy="765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s-8">
  <a:themeElements>
    <a:clrScheme name="Custom 1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002060"/>
      </a:hlink>
      <a:folHlink>
        <a:srgbClr val="0070C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